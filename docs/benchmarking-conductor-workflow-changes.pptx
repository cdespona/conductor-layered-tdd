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62c1cdf4c24c58" /><Relationship Type="http://schemas.openxmlformats.org/officeDocument/2006/relationships/extended-properties" Target="/docProps/app.xml" Id="R9afecfb436424136" /><Relationship Type="http://schemas.openxmlformats.org/officeDocument/2006/relationships/officeDocument" Target="/ppt/presentation.xml" Id="R67599b25f22945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0f9153e1e041f2"/>
  </p:sldMasterIdLst>
  <p:notesMasterIdLst>
    <p:notesMasterId xmlns:r="http://schemas.openxmlformats.org/officeDocument/2006/relationships" r:id="Rf209923daf4d4f7c"/>
  </p:notesMasterIdLst>
  <p:sldIdLst>
    <p:sldId xmlns:r="http://schemas.openxmlformats.org/officeDocument/2006/relationships" id="256" r:id="R9f50b41f04f24de0"/>
    <p:sldId xmlns:r="http://schemas.openxmlformats.org/officeDocument/2006/relationships" id="257" r:id="Rfb4b61051bc543c5"/>
    <p:sldId xmlns:r="http://schemas.openxmlformats.org/officeDocument/2006/relationships" id="258" r:id="R37237f72ace44de5"/>
    <p:sldId xmlns:r="http://schemas.openxmlformats.org/officeDocument/2006/relationships" id="259" r:id="R0e5b5c6ef78743ac"/>
    <p:sldId xmlns:r="http://schemas.openxmlformats.org/officeDocument/2006/relationships" id="260" r:id="Ra118372673ab431a"/>
    <p:sldId xmlns:r="http://schemas.openxmlformats.org/officeDocument/2006/relationships" id="261" r:id="Rf38fbfc5324040f0"/>
    <p:sldId xmlns:r="http://schemas.openxmlformats.org/officeDocument/2006/relationships" id="262" r:id="Re07cac40c7cb475e"/>
    <p:sldId xmlns:r="http://schemas.openxmlformats.org/officeDocument/2006/relationships" id="263" r:id="R67ba6634ab0644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b18a40203142ee" /><Relationship Type="http://schemas.openxmlformats.org/officeDocument/2006/relationships/slideMaster" Target="/ppt/slideMasters/slideMaster1.xml" Id="R210f9153e1e041f2" /><Relationship Type="http://schemas.openxmlformats.org/officeDocument/2006/relationships/notesMaster" Target="/ppt/notesMasters/notesMaster1.xml" Id="Rf209923daf4d4f7c" /><Relationship Type="http://schemas.openxmlformats.org/officeDocument/2006/relationships/presProps" Target="/ppt/presProps.xml" Id="R198d6624a47d4eaf" /><Relationship Type="http://schemas.openxmlformats.org/officeDocument/2006/relationships/tableStyles" Target="/ppt/tableStyles.xml" Id="Rfe23e7fc08a04a24" /><Relationship Type="http://schemas.openxmlformats.org/officeDocument/2006/relationships/slide" Target="/ppt/slides/slide1.xml" Id="R9f50b41f04f24de0" /><Relationship Type="http://schemas.openxmlformats.org/officeDocument/2006/relationships/slide" Target="/ppt/slides/slide2.xml" Id="Rfb4b61051bc543c5" /><Relationship Type="http://schemas.openxmlformats.org/officeDocument/2006/relationships/slide" Target="/ppt/slides/slide3.xml" Id="R37237f72ace44de5" /><Relationship Type="http://schemas.openxmlformats.org/officeDocument/2006/relationships/slide" Target="/ppt/slides/slide4.xml" Id="R0e5b5c6ef78743ac" /><Relationship Type="http://schemas.openxmlformats.org/officeDocument/2006/relationships/slide" Target="/ppt/slides/slide5.xml" Id="Ra118372673ab431a" /><Relationship Type="http://schemas.openxmlformats.org/officeDocument/2006/relationships/slide" Target="/ppt/slides/slide6.xml" Id="Rf38fbfc5324040f0" /><Relationship Type="http://schemas.openxmlformats.org/officeDocument/2006/relationships/slide" Target="/ppt/slides/slide7.xml" Id="Re07cac40c7cb475e" /><Relationship Type="http://schemas.openxmlformats.org/officeDocument/2006/relationships/slide" Target="/ppt/slides/slide8.xml" Id="R67ba6634ab0644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c5b58c8744b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b0d1f948a46b4" /><Relationship Type="http://schemas.openxmlformats.org/officeDocument/2006/relationships/notesMaster" Target="/ppt/notesMasters/notesMaster1.xml" Id="Rf2ee3d9385e34b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247952519a4335" /><Relationship Type="http://schemas.openxmlformats.org/officeDocument/2006/relationships/notesMaster" Target="/ppt/notesMasters/notesMaster1.xml" Id="Rd0ba1c2e755d49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f3607feba340da" /><Relationship Type="http://schemas.openxmlformats.org/officeDocument/2006/relationships/notesMaster" Target="/ppt/notesMasters/notesMaster1.xml" Id="Rad2beccb9a074c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7e4b837b41476d" /><Relationship Type="http://schemas.openxmlformats.org/officeDocument/2006/relationships/notesMaster" Target="/ppt/notesMasters/notesMaster1.xml" Id="Rf277c5e68a7548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50d321cadb4af2" /><Relationship Type="http://schemas.openxmlformats.org/officeDocument/2006/relationships/notesMaster" Target="/ppt/notesMasters/notesMaster1.xml" Id="Rfcf4c3d9a3e94b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de844b49ee4268" /><Relationship Type="http://schemas.openxmlformats.org/officeDocument/2006/relationships/notesMaster" Target="/ppt/notesMasters/notesMaster1.xml" Id="Rb758e6a934af48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706695bc584865" /><Relationship Type="http://schemas.openxmlformats.org/officeDocument/2006/relationships/notesMaster" Target="/ppt/notesMasters/notesMaster1.xml" Id="Ra78e83846d0b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016ced0b144354" /><Relationship Type="http://schemas.openxmlformats.org/officeDocument/2006/relationships/notesMaster" Target="/ppt/notesMasters/notesMaster1.xml" Id="Radbd626cce2b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cover visual: OpenAI image generation; local file recorded in source-notes.txt</a:t>
            </a:r>
          </a:p>
          <a:p xmlns:a="http://schemas.openxmlformats.org/drawingml/2006/main">
            <a:r>
              <a:t>- Repository benchmark design: benchmarks/layered-tdd/README.md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benchmarks/layered-tdd/README.md — Controlled Shape and Quick Path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benchmarks/layered-tdd/README.md — Fairness Checklist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benchmarks/layered-tdd/README.md — Quick Path, Fixed Gate Playbook, Fairness Checklist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benchmarks/layered-tdd/scripts/evaluate.py</a:t>
            </a:r>
          </a:p>
          <a:p xmlns:a="http://schemas.openxmlformats.org/drawingml/2006/main">
            <a:r>
              <a:t>- benchmarks/layered-tdd/oracle/internal/orders/cancellation_oracle_test.go</a:t>
            </a:r>
          </a:p>
          <a:p xmlns:a="http://schemas.openxmlformats.org/drawingml/2006/main">
            <a:r>
              <a:t>- benchmarks/layered-tdd/oracle/internal/httpapi/cancel_oracle_test.go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benchmarks/layered-tdd/README.md — Fixed Gate Playbook and Fairness Checklist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Collected benchmark medians from state-agents-before and deterministic-state-after runs</a:t>
            </a:r>
          </a:p>
          <a:p xmlns:a="http://schemas.openxmlformats.org/drawingml/2006/main">
            <a:r>
              <a:t>- benchmarks/layered-tdd/scripts/compare-results.py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benchmarks/layered-tdd/README.md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e3f49a3d740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18b5c777d941d5" /><Relationship Type="http://schemas.openxmlformats.org/officeDocument/2006/relationships/slideLayout" Target="/ppt/slideLayouts/slideLayout1.xml" Id="Rf4612180c5474f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612180c5474f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eaa6715734cc7" /><Relationship Type="http://schemas.openxmlformats.org/officeDocument/2006/relationships/image" Target="/ppt/media/image.png" Id="R1d8817b4aac34d17" /><Relationship Type="http://schemas.openxmlformats.org/officeDocument/2006/relationships/notesSlide" Target="/ppt/notesSlides/notesSlide1.xml" Id="R63cac794cf9140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c5625bc5e4c49" /><Relationship Type="http://schemas.openxmlformats.org/officeDocument/2006/relationships/notesSlide" Target="/ppt/notesSlides/notesSlide2.xml" Id="Recbdccf0efa8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b5711a6e14ead" /><Relationship Type="http://schemas.openxmlformats.org/officeDocument/2006/relationships/notesSlide" Target="/ppt/notesSlides/notesSlide3.xml" Id="R27fe814e539141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13f9161b846e1" /><Relationship Type="http://schemas.openxmlformats.org/officeDocument/2006/relationships/notesSlide" Target="/ppt/notesSlides/notesSlide4.xml" Id="Rf982a0b3bbc34c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a27e588ea422a" /><Relationship Type="http://schemas.openxmlformats.org/officeDocument/2006/relationships/notesSlide" Target="/ppt/notesSlides/notesSlide5.xml" Id="R047b9b0d0312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76ef2acce44e5" /><Relationship Type="http://schemas.openxmlformats.org/officeDocument/2006/relationships/notesSlide" Target="/ppt/notesSlides/notesSlide6.xml" Id="R9f597e14aa1e45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dce27b8e34cad" /><Relationship Type="http://schemas.openxmlformats.org/officeDocument/2006/relationships/chart" Target="/ppt/slides/charts/chart1.xml" Id="Rce189b6f46ad4d94" /><Relationship Type="http://schemas.openxmlformats.org/officeDocument/2006/relationships/notesSlide" Target="/ppt/notesSlides/notesSlide7.xml" Id="R1700e3ad10ac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2a1a26fcb4697" /><Relationship Type="http://schemas.openxmlformats.org/officeDocument/2006/relationships/notesSlide" Target="/ppt/notesSlides/notesSlide8.xml" Id="R8a38b4e5c3194d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4"/>
              <c:pt idx="0">
                <c:v>Input tokens</c:v>
              </c:pt>
              <c:pt idx="1">
                <c:v>Output tokens</c:v>
              </c:pt>
              <c:pt idx="2">
                <c:v>Cost</c:v>
              </c:pt>
              <c:pt idx="3">
                <c:v>Model calls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</c:numLit>
          </c:val>
        </c:ser>
        <c:ser>
          <c:idx val="1"/>
          <c:order val="1"/>
          <c:tx>
            <c:v>Candidate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Input tokens</c:v>
              </c:pt>
              <c:pt idx="1">
                <c:v>Output tokens</c:v>
              </c:pt>
              <c:pt idx="2">
                <c:v>Cost</c:v>
              </c:pt>
              <c:pt idx="3">
                <c:v>Model calls</c:v>
              </c:pt>
            </c:strLit>
          </c:cat>
          <c:val>
            <c:numLit>
              <c:formatCode>General</c:formatCode>
              <c:ptCount val="4"/>
              <c:pt idx="0">
                <c:v>77.7</c:v>
              </c:pt>
              <c:pt idx="1">
                <c:v>93.2</c:v>
              </c:pt>
              <c:pt idx="2">
                <c:v>91.9</c:v>
              </c:pt>
              <c:pt idx="3">
                <c:v>71.4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06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188EFCE-39A8-4545-A0CC-03A031DA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ENGINEERING METHOD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DDBCE1A-3F83-45BD-AB0E-46A076A4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Benchmarking</a:t>
            </a:r>
          </a:p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orchestration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1D30FCC-E555-43CE-8E5B-37E001E4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A controlled before/after experiment for workflow changes</a:t>
            </a:r>
          </a:p>
        </p:txBody>
      </p:sp>
      <p:sp>
        <p:nvSpPr>
          <p:cNvPr id="4" name="cover-scope">
            <a:extLst xmlns:a="http://schemas.openxmlformats.org/drawingml/2006/main">
              <a:ext uri="{FF2B5EF4-FFF2-40B4-BE49-F238E27FC236}">
                <a16:creationId xmlns:a16="http://schemas.microsoft.com/office/drawing/2014/main" id="{31482302-CE8A-4412-8DD7-B5AAA8A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Validation harness — not the feature delivery path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817b4aac34d17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600700" cy="5600700"/>
          </a:xfrm>
          <a:prstGeom xmlns:a="http://schemas.openxmlformats.org/drawingml/2006/main" prst="roundRect">
            <a:avLst/>
          </a:prstGeom>
        </p:spPr>
      </p:pic>
      <p:sp>
        <p:nvSpPr>
          <p:cNvPr id="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A033660F-F316-4DD3-8505-34474932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5595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95FCB4F-3690-4B90-9CE6-31CF5F83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harness wraps the workflow; it does not ship with it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03175D4F-1565-4190-9438-AC854FE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26" name="scope-divider"/>
          <p:cNvCxnSpPr/>
          <p:nvPr/>
        </p:nvCxnSpPr>
        <p:spPr>
          <a:xfrm xmlns:a="http://schemas.openxmlformats.org/drawingml/2006/main">
            <a:off x="6096000" y="1524000"/>
            <a:ext cx="0" cy="419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normal-label">
            <a:extLst xmlns:a="http://schemas.openxmlformats.org/drawingml/2006/main">
              <a:ext uri="{FF2B5EF4-FFF2-40B4-BE49-F238E27FC236}">
                <a16:creationId xmlns:a16="http://schemas.microsoft.com/office/drawing/2014/main" id="{0552CBCD-9B3F-4741-A84D-ADAB5DB7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NORMAL FEATURE USAGE</a:t>
            </a:r>
          </a:p>
        </p:txBody>
      </p:sp>
      <p:cxnSp>
        <p:nvCxnSpPr>
          <p:cNvPr id="28" name="normal-line-0"/>
          <p:cNvCxnSpPr/>
          <p:nvPr/>
        </p:nvCxnSpPr>
        <p:spPr>
          <a:xfrm xmlns:a="http://schemas.openxmlformats.org/drawingml/2006/main">
            <a:off x="1771650" y="30956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9" name="normal-line-1"/>
          <p:cNvCxnSpPr/>
          <p:nvPr/>
        </p:nvCxnSpPr>
        <p:spPr>
          <a:xfrm xmlns:a="http://schemas.openxmlformats.org/drawingml/2006/main">
            <a:off x="3629025" y="30956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normal-node-0">
            <a:extLst xmlns:a="http://schemas.openxmlformats.org/drawingml/2006/main">
              <a:ext uri="{FF2B5EF4-FFF2-40B4-BE49-F238E27FC236}">
                <a16:creationId xmlns:a16="http://schemas.microsoft.com/office/drawing/2014/main" id="{1E086B59-EFC2-43D0-8204-D9E10D2F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normal-node-text-0">
            <a:extLst xmlns:a="http://schemas.openxmlformats.org/drawingml/2006/main">
              <a:ext uri="{FF2B5EF4-FFF2-40B4-BE49-F238E27FC236}">
                <a16:creationId xmlns:a16="http://schemas.microsoft.com/office/drawing/2014/main" id="{6BF2E86B-44D3-4E94-8E52-82B1F488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 feature</a:t>
            </a:r>
          </a:p>
        </p:txBody>
      </p:sp>
      <p:sp>
        <p:nvSpPr>
          <p:cNvPr id="9" name="normal-node-1">
            <a:extLst xmlns:a="http://schemas.openxmlformats.org/drawingml/2006/main">
              <a:ext uri="{FF2B5EF4-FFF2-40B4-BE49-F238E27FC236}">
                <a16:creationId xmlns:a16="http://schemas.microsoft.com/office/drawing/2014/main" id="{3BE56B6F-C0D2-4F07-9029-C2696BD2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6700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normal-node-text-1">
            <a:extLst xmlns:a="http://schemas.openxmlformats.org/drawingml/2006/main">
              <a:ext uri="{FF2B5EF4-FFF2-40B4-BE49-F238E27FC236}">
                <a16:creationId xmlns:a16="http://schemas.microsoft.com/office/drawing/2014/main" id="{B6DC6204-5A0F-4310-B855-E64149FD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3845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76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gates + agents</a:t>
            </a:r>
          </a:p>
        </p:txBody>
      </p:sp>
      <p:sp>
        <p:nvSpPr>
          <p:cNvPr id="11" name="normal-node-2">
            <a:extLst xmlns:a="http://schemas.openxmlformats.org/drawingml/2006/main">
              <a:ext uri="{FF2B5EF4-FFF2-40B4-BE49-F238E27FC236}">
                <a16:creationId xmlns:a16="http://schemas.microsoft.com/office/drawing/2014/main" id="{68091C06-C4F7-4E78-BD7F-B22E6701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normal-node-text-2">
            <a:extLst xmlns:a="http://schemas.openxmlformats.org/drawingml/2006/main">
              <a:ext uri="{FF2B5EF4-FFF2-40B4-BE49-F238E27FC236}">
                <a16:creationId xmlns:a16="http://schemas.microsoft.com/office/drawing/2014/main" id="{D71E65FC-2D24-4B6F-9DA4-69BDC77E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33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Verified feature</a:t>
            </a:r>
          </a:p>
        </p:txBody>
      </p:sp>
      <p:sp>
        <p:nvSpPr>
          <p:cNvPr id="13" name="normal-caption">
            <a:extLst xmlns:a="http://schemas.openxmlformats.org/drawingml/2006/main">
              <a:ext uri="{FF2B5EF4-FFF2-40B4-BE49-F238E27FC236}">
                <a16:creationId xmlns:a16="http://schemas.microsoft.com/office/drawing/2014/main" id="{504AB13D-71AA-4AA7-891C-E1380A6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workflow produces the feature.</a:t>
            </a:r>
          </a:p>
        </p:txBody>
      </p:sp>
      <p:sp>
        <p:nvSpPr>
          <p:cNvPr id="14" name="bench-label">
            <a:extLst xmlns:a="http://schemas.openxmlformats.org/drawingml/2006/main">
              <a:ext uri="{FF2B5EF4-FFF2-40B4-BE49-F238E27FC236}">
                <a16:creationId xmlns:a16="http://schemas.microsoft.com/office/drawing/2014/main" id="{E4522F03-1436-4919-8FD8-DABB51E4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ORCHESTRATION VALIDATION</a:t>
            </a:r>
          </a:p>
        </p:txBody>
      </p:sp>
      <p:cxnSp>
        <p:nvCxnSpPr>
          <p:cNvPr id="38" name="bench-line-0"/>
          <p:cNvCxnSpPr/>
          <p:nvPr/>
        </p:nvCxnSpPr>
        <p:spPr>
          <a:xfrm xmlns:a="http://schemas.openxmlformats.org/drawingml/2006/main">
            <a:off x="7772400" y="30956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bench-line-1"/>
          <p:cNvCxnSpPr/>
          <p:nvPr/>
        </p:nvCxnSpPr>
        <p:spPr>
          <a:xfrm xmlns:a="http://schemas.openxmlformats.org/drawingml/2006/main">
            <a:off x="9629775" y="30956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7" name="bench-node-0">
            <a:extLst xmlns:a="http://schemas.openxmlformats.org/drawingml/2006/main">
              <a:ext uri="{FF2B5EF4-FFF2-40B4-BE49-F238E27FC236}">
                <a16:creationId xmlns:a16="http://schemas.microsoft.com/office/drawing/2014/main" id="{72D10B44-ABA0-4909-854A-F3B5C3AD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bench-node-text-0">
            <a:extLst xmlns:a="http://schemas.openxmlformats.org/drawingml/2006/main">
              <a:ext uri="{FF2B5EF4-FFF2-40B4-BE49-F238E27FC236}">
                <a16:creationId xmlns:a16="http://schemas.microsoft.com/office/drawing/2014/main" id="{A9AB47CE-8D0D-4D0A-9863-B21F5235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46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Fixture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repository</a:t>
            </a:r>
          </a:p>
        </p:txBody>
      </p:sp>
      <p:sp>
        <p:nvSpPr>
          <p:cNvPr id="19" name="bench-node-1">
            <a:extLst xmlns:a="http://schemas.openxmlformats.org/drawingml/2006/main">
              <a:ext uri="{FF2B5EF4-FFF2-40B4-BE49-F238E27FC236}">
                <a16:creationId xmlns:a16="http://schemas.microsoft.com/office/drawing/2014/main" id="{F71F0EE4-054F-47C9-BCAF-18D83995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6700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bench-node-text-1">
            <a:extLst xmlns:a="http://schemas.openxmlformats.org/drawingml/2006/main">
              <a:ext uri="{FF2B5EF4-FFF2-40B4-BE49-F238E27FC236}">
                <a16:creationId xmlns:a16="http://schemas.microsoft.com/office/drawing/2014/main" id="{E1A673A7-AB34-4BCD-AB7F-C062CA33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3845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Fixed playbook</a:t>
            </a:r>
          </a:p>
        </p:txBody>
      </p:sp>
      <p:sp>
        <p:nvSpPr>
          <p:cNvPr id="21" name="bench-node-2">
            <a:extLst xmlns:a="http://schemas.openxmlformats.org/drawingml/2006/main">
              <a:ext uri="{FF2B5EF4-FFF2-40B4-BE49-F238E27FC236}">
                <a16:creationId xmlns:a16="http://schemas.microsoft.com/office/drawing/2014/main" id="{D98FECB6-B070-40AB-AE49-50113697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bench-node-text-2">
            <a:extLst xmlns:a="http://schemas.openxmlformats.org/drawingml/2006/main">
              <a:ext uri="{FF2B5EF4-FFF2-40B4-BE49-F238E27FC236}">
                <a16:creationId xmlns:a16="http://schemas.microsoft.com/office/drawing/2014/main" id="{C4D93E39-D7FF-44E7-ABA3-F276EEE4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3845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91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Logs + evaluator</a:t>
            </a:r>
          </a:p>
        </p:txBody>
      </p:sp>
      <p:sp>
        <p:nvSpPr>
          <p:cNvPr id="23" name="bench-caption">
            <a:extLst xmlns:a="http://schemas.openxmlformats.org/drawingml/2006/main">
              <a:ext uri="{FF2B5EF4-FFF2-40B4-BE49-F238E27FC236}">
                <a16:creationId xmlns:a16="http://schemas.microsoft.com/office/drawing/2014/main" id="{EA7061CC-E6FD-431E-87F8-6307CBD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harness measures the workflow.</a:t>
            </a:r>
          </a:p>
        </p:txBody>
      </p:sp>
    </p:spTree>
    <p:extLst>
      <p:ext uri="{BB962C8B-B14F-4D97-AF65-F5344CB8AC3E}">
        <p14:creationId xmlns:p14="http://schemas.microsoft.com/office/powerpoint/2010/main" val="157829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62FBEC2-B37F-46FE-AB2F-00B93DA6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valid comparison changes one orchestration variable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5D6A969C-4D3C-48F4-8714-BEE65B8F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7" name="control-link-0"/>
          <p:cNvCxnSpPr/>
          <p:nvPr/>
        </p:nvCxnSpPr>
        <p:spPr>
          <a:xfrm xmlns:a="http://schemas.openxmlformats.org/drawingml/2006/main">
            <a:off x="2133600" y="25908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8" name="control-link-1"/>
          <p:cNvCxnSpPr/>
          <p:nvPr/>
        </p:nvCxnSpPr>
        <p:spPr>
          <a:xfrm xmlns:a="http://schemas.openxmlformats.org/drawingml/2006/main">
            <a:off x="4305300" y="25908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9" name="control-link-2"/>
          <p:cNvCxnSpPr/>
          <p:nvPr/>
        </p:nvCxnSpPr>
        <p:spPr>
          <a:xfrm xmlns:a="http://schemas.openxmlformats.org/drawingml/2006/main">
            <a:off x="6477000" y="25908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0" name="control-link-3"/>
          <p:cNvCxnSpPr/>
          <p:nvPr/>
        </p:nvCxnSpPr>
        <p:spPr>
          <a:xfrm xmlns:a="http://schemas.openxmlformats.org/drawingml/2006/main">
            <a:off x="8648700" y="25908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control-0">
            <a:extLst xmlns:a="http://schemas.openxmlformats.org/drawingml/2006/main">
              <a:ext uri="{FF2B5EF4-FFF2-40B4-BE49-F238E27FC236}">
                <a16:creationId xmlns:a16="http://schemas.microsoft.com/office/drawing/2014/main" id="{7367F334-F2BC-41A1-B516-212108A9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543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ntrol-head-0">
            <a:extLst xmlns:a="http://schemas.openxmlformats.org/drawingml/2006/main">
              <a:ext uri="{FF2B5EF4-FFF2-40B4-BE49-F238E27FC236}">
                <a16:creationId xmlns:a16="http://schemas.microsoft.com/office/drawing/2014/main" id="{4F8366C0-A42E-4FCE-964A-A9758C3C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FIXTURE</a:t>
            </a:r>
          </a:p>
        </p:txBody>
      </p:sp>
      <p:sp>
        <p:nvSpPr>
          <p:cNvPr id="9" name="control-body-0">
            <a:extLst xmlns:a="http://schemas.openxmlformats.org/drawingml/2006/main">
              <a:ext uri="{FF2B5EF4-FFF2-40B4-BE49-F238E27FC236}">
                <a16:creationId xmlns:a16="http://schemas.microsoft.com/office/drawing/2014/main" id="{356B4CDB-9FFF-4740-9B7A-ADAEC007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6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commit</a:t>
            </a:r>
          </a:p>
        </p:txBody>
      </p:sp>
      <p:sp>
        <p:nvSpPr>
          <p:cNvPr id="10" name="control-1">
            <a:extLst xmlns:a="http://schemas.openxmlformats.org/drawingml/2006/main">
              <a:ext uri="{FF2B5EF4-FFF2-40B4-BE49-F238E27FC236}">
                <a16:creationId xmlns:a16="http://schemas.microsoft.com/office/drawing/2014/main" id="{97E61DE0-7CBC-46F0-A9B5-4EDEAFDD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1543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ontrol-head-1">
            <a:extLst xmlns:a="http://schemas.openxmlformats.org/drawingml/2006/main">
              <a:ext uri="{FF2B5EF4-FFF2-40B4-BE49-F238E27FC236}">
                <a16:creationId xmlns:a16="http://schemas.microsoft.com/office/drawing/2014/main" id="{42AF07F3-3360-4B97-BE82-CE72AEAA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9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TASK</a:t>
            </a:r>
          </a:p>
        </p:txBody>
      </p:sp>
      <p:sp>
        <p:nvSpPr>
          <p:cNvPr id="12" name="control-body-1">
            <a:extLst xmlns:a="http://schemas.openxmlformats.org/drawingml/2006/main">
              <a:ext uri="{FF2B5EF4-FFF2-40B4-BE49-F238E27FC236}">
                <a16:creationId xmlns:a16="http://schemas.microsoft.com/office/drawing/2014/main" id="{59D5FFB4-5427-4235-B568-A3809522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336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60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request</a:t>
            </a:r>
          </a:p>
        </p:txBody>
      </p:sp>
      <p:sp>
        <p:nvSpPr>
          <p:cNvPr id="13" name="control-2">
            <a:extLst xmlns:a="http://schemas.openxmlformats.org/drawingml/2006/main">
              <a:ext uri="{FF2B5EF4-FFF2-40B4-BE49-F238E27FC236}">
                <a16:creationId xmlns:a16="http://schemas.microsoft.com/office/drawing/2014/main" id="{03F395C5-CFCD-4378-B5C6-1FB4229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76450"/>
            <a:ext cx="1543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ntrol-head-2">
            <a:extLst xmlns:a="http://schemas.openxmlformats.org/drawingml/2006/main">
              <a:ext uri="{FF2B5EF4-FFF2-40B4-BE49-F238E27FC236}">
                <a16:creationId xmlns:a16="http://schemas.microsoft.com/office/drawing/2014/main" id="{7AD5815F-8DF8-4B56-A9F4-B749B27B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5" name="control-body-2">
            <a:extLst xmlns:a="http://schemas.openxmlformats.org/drawingml/2006/main">
              <a:ext uri="{FF2B5EF4-FFF2-40B4-BE49-F238E27FC236}">
                <a16:creationId xmlns:a16="http://schemas.microsoft.com/office/drawing/2014/main" id="{309AA012-2842-4C27-B902-8F62F90A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95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model</a:t>
            </a:r>
          </a:p>
        </p:txBody>
      </p:sp>
      <p:sp>
        <p:nvSpPr>
          <p:cNvPr id="16" name="control-3">
            <a:extLst xmlns:a="http://schemas.openxmlformats.org/drawingml/2006/main">
              <a:ext uri="{FF2B5EF4-FFF2-40B4-BE49-F238E27FC236}">
                <a16:creationId xmlns:a16="http://schemas.microsoft.com/office/drawing/2014/main" id="{AFD8B52A-62D9-478C-BBF5-377C8BA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76450"/>
            <a:ext cx="1543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control-head-3">
            <a:extLst xmlns:a="http://schemas.openxmlformats.org/drawingml/2006/main">
              <a:ext uri="{FF2B5EF4-FFF2-40B4-BE49-F238E27FC236}">
                <a16:creationId xmlns:a16="http://schemas.microsoft.com/office/drawing/2014/main" id="{A6158AF0-4001-4B7B-A61D-7B6EF4DB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DECISIONS</a:t>
            </a:r>
          </a:p>
        </p:txBody>
      </p:sp>
      <p:sp>
        <p:nvSpPr>
          <p:cNvPr id="18" name="control-body-3">
            <a:extLst xmlns:a="http://schemas.openxmlformats.org/drawingml/2006/main">
              <a:ext uri="{FF2B5EF4-FFF2-40B4-BE49-F238E27FC236}">
                <a16:creationId xmlns:a16="http://schemas.microsoft.com/office/drawing/2014/main" id="{AC08CC70-20D7-4FA0-B80D-5ABB2FA6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28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gate playbook</a:t>
            </a:r>
          </a:p>
        </p:txBody>
      </p:sp>
      <p:sp>
        <p:nvSpPr>
          <p:cNvPr id="19" name="control-4">
            <a:extLst xmlns:a="http://schemas.openxmlformats.org/drawingml/2006/main">
              <a:ext uri="{FF2B5EF4-FFF2-40B4-BE49-F238E27FC236}">
                <a16:creationId xmlns:a16="http://schemas.microsoft.com/office/drawing/2014/main" id="{9F03A1AC-C529-4105-B749-36185CE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76450"/>
            <a:ext cx="1543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control-head-4">
            <a:extLst xmlns:a="http://schemas.openxmlformats.org/drawingml/2006/main">
              <a:ext uri="{FF2B5EF4-FFF2-40B4-BE49-F238E27FC236}">
                <a16:creationId xmlns:a16="http://schemas.microsoft.com/office/drawing/2014/main" id="{17479A02-A239-4BDA-BB25-98B328B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21" name="control-body-4">
            <a:extLst xmlns:a="http://schemas.openxmlformats.org/drawingml/2006/main">
              <a:ext uri="{FF2B5EF4-FFF2-40B4-BE49-F238E27FC236}">
                <a16:creationId xmlns:a16="http://schemas.microsoft.com/office/drawing/2014/main" id="{C48076F7-B5B2-464A-85DB-2FEE92A0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336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09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mode</a:t>
            </a:r>
          </a:p>
        </p:txBody>
      </p:sp>
      <p:sp>
        <p:nvSpPr>
          <p:cNvPr id="22" name="only-change">
            <a:extLst xmlns:a="http://schemas.openxmlformats.org/drawingml/2006/main">
              <a:ext uri="{FF2B5EF4-FFF2-40B4-BE49-F238E27FC236}">
                <a16:creationId xmlns:a16="http://schemas.microsoft.com/office/drawing/2014/main" id="{80E45EAA-F1E6-4FC9-B0B9-68684F3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60579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3" name="only-change-text">
            <a:extLst xmlns:a="http://schemas.openxmlformats.org/drawingml/2006/main">
              <a:ext uri="{FF2B5EF4-FFF2-40B4-BE49-F238E27FC236}">
                <a16:creationId xmlns:a16="http://schemas.microsoft.com/office/drawing/2014/main" id="{35C7A984-AD9F-4C76-BBC2-79510208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43400"/>
            <a:ext cx="544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38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VARIABLE</a:t>
            </a:r>
          </a:p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implementation under test</a:t>
            </a:r>
          </a:p>
        </p:txBody>
      </p:sp>
      <p:sp>
        <p:nvSpPr>
          <p:cNvPr id="24" name="control-rule">
            <a:extLst xmlns:a="http://schemas.openxmlformats.org/drawingml/2006/main">
              <a:ext uri="{FF2B5EF4-FFF2-40B4-BE49-F238E27FC236}">
                <a16:creationId xmlns:a16="http://schemas.microsoft.com/office/drawing/2014/main" id="{3BED6960-3CFE-448B-8575-5EC26E9A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86400"/>
            <a:ext cx="605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Route deviations are evidence—not comparable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329554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2827228-6DE5-42DE-9EC0-86145A16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experiment is symmetrical before and after the change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8C6DAB90-EA07-48CD-8DF2-14C18A43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31" name="lifecycle-spine"/>
          <p:cNvCxnSpPr/>
          <p:nvPr/>
        </p:nvCxnSpPr>
        <p:spPr>
          <a:xfrm xmlns:a="http://schemas.openxmlformats.org/drawingml/2006/main">
            <a:off x="666750" y="321945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life-dot-0">
            <a:extLst xmlns:a="http://schemas.openxmlformats.org/drawingml/2006/main">
              <a:ext uri="{FF2B5EF4-FFF2-40B4-BE49-F238E27FC236}">
                <a16:creationId xmlns:a16="http://schemas.microsoft.com/office/drawing/2014/main" id="{9C768936-E5E6-40F5-9917-B293614E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life-num-0">
            <a:extLst xmlns:a="http://schemas.openxmlformats.org/drawingml/2006/main">
              <a:ext uri="{FF2B5EF4-FFF2-40B4-BE49-F238E27FC236}">
                <a16:creationId xmlns:a16="http://schemas.microsoft.com/office/drawing/2014/main" id="{9A0C8257-BDE0-4FB6-BF64-EF0576EB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life-head-0">
            <a:extLst xmlns:a="http://schemas.openxmlformats.org/drawingml/2006/main">
              <a:ext uri="{FF2B5EF4-FFF2-40B4-BE49-F238E27FC236}">
                <a16:creationId xmlns:a16="http://schemas.microsoft.com/office/drawing/2014/main" id="{5C5683C5-2592-4B4E-8156-47C69217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Materialize</a:t>
            </a:r>
          </a:p>
        </p:txBody>
      </p:sp>
      <p:sp>
        <p:nvSpPr>
          <p:cNvPr id="7" name="life-body-0">
            <a:extLst xmlns:a="http://schemas.openxmlformats.org/drawingml/2006/main">
              <a:ext uri="{FF2B5EF4-FFF2-40B4-BE49-F238E27FC236}">
                <a16:creationId xmlns:a16="http://schemas.microsoft.com/office/drawing/2014/main" id="{5D5C4219-7924-44B3-8995-E76AD127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Fresh baseline fixture</a:t>
            </a:r>
          </a:p>
        </p:txBody>
      </p:sp>
      <p:sp>
        <p:nvSpPr>
          <p:cNvPr id="8" name="life-dot-1">
            <a:extLst xmlns:a="http://schemas.openxmlformats.org/drawingml/2006/main">
              <a:ext uri="{FF2B5EF4-FFF2-40B4-BE49-F238E27FC236}">
                <a16:creationId xmlns:a16="http://schemas.microsoft.com/office/drawing/2014/main" id="{4239F4CF-455C-4DD0-8A89-F85C1463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life-num-1">
            <a:extLst xmlns:a="http://schemas.openxmlformats.org/drawingml/2006/main">
              <a:ext uri="{FF2B5EF4-FFF2-40B4-BE49-F238E27FC236}">
                <a16:creationId xmlns:a16="http://schemas.microsoft.com/office/drawing/2014/main" id="{DD033A29-4D76-4779-AF9F-398C46CB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life-head-1">
            <a:extLst xmlns:a="http://schemas.openxmlformats.org/drawingml/2006/main">
              <a:ext uri="{FF2B5EF4-FFF2-40B4-BE49-F238E27FC236}">
                <a16:creationId xmlns:a16="http://schemas.microsoft.com/office/drawing/2014/main" id="{B6E2ECCE-0784-489A-B735-3D660138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×3</a:t>
            </a:r>
          </a:p>
        </p:txBody>
      </p:sp>
      <p:sp>
        <p:nvSpPr>
          <p:cNvPr id="11" name="life-body-1">
            <a:extLst xmlns:a="http://schemas.openxmlformats.org/drawingml/2006/main">
              <a:ext uri="{FF2B5EF4-FFF2-40B4-BE49-F238E27FC236}">
                <a16:creationId xmlns:a16="http://schemas.microsoft.com/office/drawing/2014/main" id="{2EAF4631-1C22-4351-9CD0-D57DFA60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Fixed playbook</a:t>
            </a:r>
          </a:p>
        </p:txBody>
      </p:sp>
      <p:sp>
        <p:nvSpPr>
          <p:cNvPr id="12" name="life-dot-2">
            <a:extLst xmlns:a="http://schemas.openxmlformats.org/drawingml/2006/main">
              <a:ext uri="{FF2B5EF4-FFF2-40B4-BE49-F238E27FC236}">
                <a16:creationId xmlns:a16="http://schemas.microsoft.com/office/drawing/2014/main" id="{7E992FA8-448F-495D-BC44-AAF91F0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life-num-2">
            <a:extLst xmlns:a="http://schemas.openxmlformats.org/drawingml/2006/main">
              <a:ext uri="{FF2B5EF4-FFF2-40B4-BE49-F238E27FC236}">
                <a16:creationId xmlns:a16="http://schemas.microsoft.com/office/drawing/2014/main" id="{F53BDA54-7AA0-439E-8161-F48E3AB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life-head-2">
            <a:extLst xmlns:a="http://schemas.openxmlformats.org/drawingml/2006/main">
              <a:ext uri="{FF2B5EF4-FFF2-40B4-BE49-F238E27FC236}">
                <a16:creationId xmlns:a16="http://schemas.microsoft.com/office/drawing/2014/main" id="{FAC15E7E-59B1-45D4-8949-8E516A2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Qualify</a:t>
            </a:r>
          </a:p>
        </p:txBody>
      </p:sp>
      <p:sp>
        <p:nvSpPr>
          <p:cNvPr id="15" name="life-body-2">
            <a:extLst xmlns:a="http://schemas.openxmlformats.org/drawingml/2006/main">
              <a:ext uri="{FF2B5EF4-FFF2-40B4-BE49-F238E27FC236}">
                <a16:creationId xmlns:a16="http://schemas.microsoft.com/office/drawing/2014/main" id="{4849245A-E925-427E-AAAD-5BE4D3D9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14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Oracle + boundary</a:t>
            </a:r>
          </a:p>
        </p:txBody>
      </p:sp>
      <p:sp>
        <p:nvSpPr>
          <p:cNvPr id="16" name="life-dot-3">
            <a:extLst xmlns:a="http://schemas.openxmlformats.org/drawingml/2006/main">
              <a:ext uri="{FF2B5EF4-FFF2-40B4-BE49-F238E27FC236}">
                <a16:creationId xmlns:a16="http://schemas.microsoft.com/office/drawing/2014/main" id="{FF732F48-CD7D-444B-872E-6D637E65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life-num-3">
            <a:extLst xmlns:a="http://schemas.openxmlformats.org/drawingml/2006/main">
              <a:ext uri="{FF2B5EF4-FFF2-40B4-BE49-F238E27FC236}">
                <a16:creationId xmlns:a16="http://schemas.microsoft.com/office/drawing/2014/main" id="{9938F1FA-7FE2-441F-AA34-15B54EBE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life-head-3">
            <a:extLst xmlns:a="http://schemas.openxmlformats.org/drawingml/2006/main">
              <a:ext uri="{FF2B5EF4-FFF2-40B4-BE49-F238E27FC236}">
                <a16:creationId xmlns:a16="http://schemas.microsoft.com/office/drawing/2014/main" id="{9FF62359-E57E-4160-BCFC-C8C49C78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</a:t>
            </a:r>
          </a:p>
        </p:txBody>
      </p:sp>
      <p:sp>
        <p:nvSpPr>
          <p:cNvPr id="19" name="life-body-3">
            <a:extLst xmlns:a="http://schemas.openxmlformats.org/drawingml/2006/main">
              <a:ext uri="{FF2B5EF4-FFF2-40B4-BE49-F238E27FC236}">
                <a16:creationId xmlns:a16="http://schemas.microsoft.com/office/drawing/2014/main" id="{DECDA4C6-E5E2-4152-832F-0801852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Workflow only</a:t>
            </a:r>
          </a:p>
        </p:txBody>
      </p:sp>
      <p:sp>
        <p:nvSpPr>
          <p:cNvPr id="20" name="life-dot-4">
            <a:extLst xmlns:a="http://schemas.openxmlformats.org/drawingml/2006/main">
              <a:ext uri="{FF2B5EF4-FFF2-40B4-BE49-F238E27FC236}">
                <a16:creationId xmlns:a16="http://schemas.microsoft.com/office/drawing/2014/main" id="{53BB3986-7428-4F8E-AB2E-A45E729E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life-num-4">
            <a:extLst xmlns:a="http://schemas.openxmlformats.org/drawingml/2006/main">
              <a:ext uri="{FF2B5EF4-FFF2-40B4-BE49-F238E27FC236}">
                <a16:creationId xmlns:a16="http://schemas.microsoft.com/office/drawing/2014/main" id="{B65C6531-E500-4302-8230-E2D3C126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life-head-4">
            <a:extLst xmlns:a="http://schemas.openxmlformats.org/drawingml/2006/main">
              <a:ext uri="{FF2B5EF4-FFF2-40B4-BE49-F238E27FC236}">
                <a16:creationId xmlns:a16="http://schemas.microsoft.com/office/drawing/2014/main" id="{CBFD4841-32EF-4681-98D3-9B2364F5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×3</a:t>
            </a:r>
          </a:p>
        </p:txBody>
      </p:sp>
      <p:sp>
        <p:nvSpPr>
          <p:cNvPr id="23" name="life-body-4">
            <a:extLst xmlns:a="http://schemas.openxmlformats.org/drawingml/2006/main">
              <a:ext uri="{FF2B5EF4-FFF2-40B4-BE49-F238E27FC236}">
                <a16:creationId xmlns:a16="http://schemas.microsoft.com/office/drawing/2014/main" id="{CDFB21D1-EC0C-418A-9A44-61B8E8AA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14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Fresh candidate fixture</a:t>
            </a:r>
          </a:p>
        </p:txBody>
      </p:sp>
      <p:sp>
        <p:nvSpPr>
          <p:cNvPr id="24" name="life-dot-5">
            <a:extLst xmlns:a="http://schemas.openxmlformats.org/drawingml/2006/main">
              <a:ext uri="{FF2B5EF4-FFF2-40B4-BE49-F238E27FC236}">
                <a16:creationId xmlns:a16="http://schemas.microsoft.com/office/drawing/2014/main" id="{EF396322-E34E-4A8E-AA3C-7E0D5192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life-num-5">
            <a:extLst xmlns:a="http://schemas.openxmlformats.org/drawingml/2006/main">
              <a:ext uri="{FF2B5EF4-FFF2-40B4-BE49-F238E27FC236}">
                <a16:creationId xmlns:a16="http://schemas.microsoft.com/office/drawing/2014/main" id="{A87ADE0C-7E6B-45DC-BC19-D991E24D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life-head-5">
            <a:extLst xmlns:a="http://schemas.openxmlformats.org/drawingml/2006/main">
              <a:ext uri="{FF2B5EF4-FFF2-40B4-BE49-F238E27FC236}">
                <a16:creationId xmlns:a16="http://schemas.microsoft.com/office/drawing/2014/main" id="{569842A7-98DB-47D0-B1BE-91855A6B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27" name="life-body-5">
            <a:extLst xmlns:a="http://schemas.openxmlformats.org/drawingml/2006/main">
              <a:ext uri="{FF2B5EF4-FFF2-40B4-BE49-F238E27FC236}">
                <a16:creationId xmlns:a16="http://schemas.microsoft.com/office/drawing/2014/main" id="{3276E195-8F76-4362-A711-2739179B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14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Successful medians</a:t>
            </a:r>
          </a:p>
        </p:txBody>
      </p:sp>
      <p:sp>
        <p:nvSpPr>
          <p:cNvPr id="28" name="life-repeat">
            <a:extLst xmlns:a="http://schemas.openxmlformats.org/drawingml/2006/main">
              <a:ext uri="{FF2B5EF4-FFF2-40B4-BE49-F238E27FC236}">
                <a16:creationId xmlns:a16="http://schemas.microsoft.com/office/drawing/2014/main" id="{C2830FE9-0749-4DBD-AE7E-AB605A06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29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Same route • same layers • same decisions</a:t>
            </a:r>
          </a:p>
        </p:txBody>
      </p:sp>
    </p:spTree>
    <p:extLst>
      <p:ext uri="{BB962C8B-B14F-4D97-AF65-F5344CB8AC3E}">
        <p14:creationId xmlns:p14="http://schemas.microsoft.com/office/powerpoint/2010/main" val="218542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4DF8968-A75B-4C9A-82EF-FDB2BC10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independent checks qualify every completed run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72219A8F-03F3-4DAD-AAA2-00E60D44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oracle-down">
            <a:extLst xmlns:a="http://schemas.openxmlformats.org/drawingml/2006/main">
              <a:ext uri="{FF2B5EF4-FFF2-40B4-BE49-F238E27FC236}">
                <a16:creationId xmlns:a16="http://schemas.microsoft.com/office/drawing/2014/main" id="{BC18FCED-98AB-46EB-8441-69A9386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4" name="boundary-down">
            <a:extLst xmlns:a="http://schemas.openxmlformats.org/drawingml/2006/main">
              <a:ext uri="{FF2B5EF4-FFF2-40B4-BE49-F238E27FC236}">
                <a16:creationId xmlns:a16="http://schemas.microsoft.com/office/drawing/2014/main" id="{038D9BA1-77D4-4ADB-A21F-AFA8E813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5" name="qualify-and">
            <a:extLst xmlns:a="http://schemas.openxmlformats.org/drawingml/2006/main">
              <a:ext uri="{FF2B5EF4-FFF2-40B4-BE49-F238E27FC236}">
                <a16:creationId xmlns:a16="http://schemas.microsoft.com/office/drawing/2014/main" id="{77B0E5BD-5E5F-43EC-8599-2AC96B3F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338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" name="oracle-label">
            <a:extLst xmlns:a="http://schemas.openxmlformats.org/drawingml/2006/main">
              <a:ext uri="{FF2B5EF4-FFF2-40B4-BE49-F238E27FC236}">
                <a16:creationId xmlns:a16="http://schemas.microsoft.com/office/drawing/2014/main" id="{D11B9B80-C6AE-427D-A197-6D7DDA48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BEHAVIOR ORACLE</a:t>
            </a:r>
          </a:p>
        </p:txBody>
      </p:sp>
      <p:sp>
        <p:nvSpPr>
          <p:cNvPr id="7" name="oracle-symbol">
            <a:extLst xmlns:a="http://schemas.openxmlformats.org/drawingml/2006/main">
              <a:ext uri="{FF2B5EF4-FFF2-40B4-BE49-F238E27FC236}">
                <a16:creationId xmlns:a16="http://schemas.microsoft.com/office/drawing/2014/main" id="{BD6FBCD0-0BDC-4497-8769-EFCA2F93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oracle-title">
            <a:extLst xmlns:a="http://schemas.openxmlformats.org/drawingml/2006/main">
              <a:ext uri="{FF2B5EF4-FFF2-40B4-BE49-F238E27FC236}">
                <a16:creationId xmlns:a16="http://schemas.microsoft.com/office/drawing/2014/main" id="{0AD0390B-E18C-417D-B4C1-C35EA039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3837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Does the feature work?</a:t>
            </a:r>
          </a:p>
        </p:txBody>
      </p:sp>
      <p:sp>
        <p:nvSpPr>
          <p:cNvPr id="9" name="oracle-body">
            <a:extLst xmlns:a="http://schemas.openxmlformats.org/drawingml/2006/main">
              <a:ext uri="{FF2B5EF4-FFF2-40B4-BE49-F238E27FC236}">
                <a16:creationId xmlns:a16="http://schemas.microsoft.com/office/drawing/2014/main" id="{B19D1CA2-4818-4A85-B5F5-604B41EE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Temporary reference tests</a:t>
            </a:r>
          </a:p>
          <a:p xmlns:a="http://schemas.openxmlformats.org/drawingml/2006/main">
            <a:pPr algn="l">
              <a:def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run with go test ./...</a:t>
            </a:r>
          </a:p>
        </p:txBody>
      </p:sp>
      <p:sp>
        <p:nvSpPr>
          <p:cNvPr id="10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F5D0F242-79E2-4509-B1EF-5AFE31BC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CHANGE BOUNDARY</a:t>
            </a:r>
          </a:p>
        </p:txBody>
      </p:sp>
      <p:sp>
        <p:nvSpPr>
          <p:cNvPr id="11" name="boundary-symbol">
            <a:extLst xmlns:a="http://schemas.openxmlformats.org/drawingml/2006/main">
              <a:ext uri="{FF2B5EF4-FFF2-40B4-BE49-F238E27FC236}">
                <a16:creationId xmlns:a16="http://schemas.microsoft.com/office/drawing/2014/main" id="{E02C8422-8826-43C1-BCB2-0D58A5BB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9075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⌁</a:t>
            </a:r>
          </a:p>
        </p:txBody>
      </p:sp>
      <p:sp>
        <p:nvSpPr>
          <p:cNvPr id="12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17254A05-5412-4502-BD68-71CBF158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38375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Did edits stay in scope?</a:t>
            </a:r>
          </a:p>
        </p:txBody>
      </p:sp>
      <p:sp>
        <p:nvSpPr>
          <p:cNvPr id="13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4B1BF73F-3C4B-4C34-8D8C-FFF9C163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git status paths checked</a:t>
            </a:r>
          </a:p>
          <a:p xmlns:a="http://schemas.openxmlformats.org/drawingml/2006/main">
            <a:pPr algn="l">
              <a:def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against an allowlist</a:t>
            </a:r>
          </a:p>
        </p:txBody>
      </p:sp>
      <p:sp>
        <p:nvSpPr>
          <p:cNvPr id="14" name="qualify-result">
            <a:extLst xmlns:a="http://schemas.openxmlformats.org/drawingml/2006/main">
              <a:ext uri="{FF2B5EF4-FFF2-40B4-BE49-F238E27FC236}">
                <a16:creationId xmlns:a16="http://schemas.microsoft.com/office/drawing/2014/main" id="{93FF75E2-1B39-4C55-9AE3-F77F73E3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qualify-result-text">
            <a:extLst xmlns:a="http://schemas.openxmlformats.org/drawingml/2006/main">
              <a:ext uri="{FF2B5EF4-FFF2-40B4-BE49-F238E27FC236}">
                <a16:creationId xmlns:a16="http://schemas.microsoft.com/office/drawing/2014/main" id="{7140CA9E-77AB-4A5D-A86B-9809637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624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BOTH PASS</a:t>
            </a:r>
          </a:p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Comparable run</a:t>
            </a:r>
          </a:p>
        </p:txBody>
      </p:sp>
      <p:sp>
        <p:nvSpPr>
          <p:cNvPr id="16" name="qualify-warning">
            <a:extLst xmlns:a="http://schemas.openxmlformats.org/drawingml/2006/main">
              <a:ext uri="{FF2B5EF4-FFF2-40B4-BE49-F238E27FC236}">
                <a16:creationId xmlns:a16="http://schemas.microsoft.com/office/drawing/2014/main" id="{C9EC64C0-1AEB-4211-BD72-CD45B711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One failure → exclude from medians and report separately</a:t>
            </a:r>
          </a:p>
        </p:txBody>
      </p:sp>
    </p:spTree>
    <p:extLst>
      <p:ext uri="{BB962C8B-B14F-4D97-AF65-F5344CB8AC3E}">
        <p14:creationId xmlns:p14="http://schemas.microsoft.com/office/powerpoint/2010/main" val="902079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F9ADD62-996D-4640-B03E-A048F93C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6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Comparable runs form the dataset; failures remain diagnostics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241F7F6F-7679-41CD-BF29-13058C74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17" name="runs-divider"/>
          <p:cNvCxnSpPr/>
          <p:nvPr/>
        </p:nvCxnSpPr>
        <p:spPr>
          <a:xfrm xmlns:a="http://schemas.openxmlformats.org/drawingml/2006/main">
            <a:off x="6096000" y="1581150"/>
            <a:ext cx="0" cy="421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counted-label">
            <a:extLst xmlns:a="http://schemas.openxmlformats.org/drawingml/2006/main">
              <a:ext uri="{FF2B5EF4-FFF2-40B4-BE49-F238E27FC236}">
                <a16:creationId xmlns:a16="http://schemas.microsoft.com/office/drawing/2014/main" id="{51458CF2-94DF-4FD2-9B27-3B1759E8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COUNTED</a:t>
            </a:r>
          </a:p>
        </p:txBody>
      </p:sp>
      <p:sp>
        <p:nvSpPr>
          <p:cNvPr id="5" name="counted-equation">
            <a:extLst xmlns:a="http://schemas.openxmlformats.org/drawingml/2006/main">
              <a:ext uri="{FF2B5EF4-FFF2-40B4-BE49-F238E27FC236}">
                <a16:creationId xmlns:a16="http://schemas.microsoft.com/office/drawing/2014/main" id="{93D4CB2A-EDE3-4111-B2F4-C1DB4C77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66950"/>
            <a:ext cx="457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× baseline</a:t>
            </a:r>
          </a:p>
          <a:p xmlns:a="http://schemas.openxmlformats.org/drawingml/2006/main">
            <a:pPr algn="ctr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  <a:p xmlns:a="http://schemas.openxmlformats.org/drawingml/2006/main">
            <a:pPr algn="ctr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× candidate</a:t>
            </a:r>
          </a:p>
        </p:txBody>
      </p:sp>
      <p:sp>
        <p:nvSpPr>
          <p:cNvPr id="6" name="counted-rule">
            <a:extLst xmlns:a="http://schemas.openxmlformats.org/drawingml/2006/main">
              <a:ext uri="{FF2B5EF4-FFF2-40B4-BE49-F238E27FC236}">
                <a16:creationId xmlns:a16="http://schemas.microsoft.com/office/drawing/2014/main" id="{40A92FF5-66DE-4907-B641-5527862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Same route + oracle pass + boundary pass</a:t>
            </a:r>
          </a:p>
        </p:txBody>
      </p:sp>
      <p:sp>
        <p:nvSpPr>
          <p:cNvPr id="7" name="excluded-label">
            <a:extLst xmlns:a="http://schemas.openxmlformats.org/drawingml/2006/main">
              <a:ext uri="{FF2B5EF4-FFF2-40B4-BE49-F238E27FC236}">
                <a16:creationId xmlns:a16="http://schemas.microsoft.com/office/drawing/2014/main" id="{282BF201-FA2A-4357-8533-5A2F62CB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19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EXCLUDED AND EXPLAINED</a:t>
            </a:r>
          </a:p>
        </p:txBody>
      </p:sp>
      <p:sp>
        <p:nvSpPr>
          <p:cNvPr id="8" name="failed-x-0">
            <a:extLst xmlns:a="http://schemas.openxmlformats.org/drawingml/2006/main">
              <a:ext uri="{FF2B5EF4-FFF2-40B4-BE49-F238E27FC236}">
                <a16:creationId xmlns:a16="http://schemas.microsoft.com/office/drawing/2014/main" id="{FBEABA97-35BA-405E-8547-87466B98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818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9" name="failed-text-0">
            <a:extLst xmlns:a="http://schemas.openxmlformats.org/drawingml/2006/main">
              <a:ext uri="{FF2B5EF4-FFF2-40B4-BE49-F238E27FC236}">
                <a16:creationId xmlns:a16="http://schemas.microsoft.com/office/drawing/2014/main" id="{A8BAB427-012E-4E4F-9FB1-11681397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Unexpected gate</a:t>
            </a:r>
          </a:p>
        </p:txBody>
      </p:sp>
      <p:sp>
        <p:nvSpPr>
          <p:cNvPr id="10" name="failed-x-1">
            <a:extLst xmlns:a="http://schemas.openxmlformats.org/drawingml/2006/main">
              <a:ext uri="{FF2B5EF4-FFF2-40B4-BE49-F238E27FC236}">
                <a16:creationId xmlns:a16="http://schemas.microsoft.com/office/drawing/2014/main" id="{C6759677-25E8-4D51-9A53-688F53C5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05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818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11" name="failed-text-1">
            <a:extLst xmlns:a="http://schemas.openxmlformats.org/drawingml/2006/main">
              <a:ext uri="{FF2B5EF4-FFF2-40B4-BE49-F238E27FC236}">
                <a16:creationId xmlns:a16="http://schemas.microsoft.com/office/drawing/2014/main" id="{93379172-9D9B-4B08-B684-B809DAD3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Revision / retry deviation</a:t>
            </a:r>
          </a:p>
        </p:txBody>
      </p:sp>
      <p:sp>
        <p:nvSpPr>
          <p:cNvPr id="12" name="failed-x-2">
            <a:extLst xmlns:a="http://schemas.openxmlformats.org/drawingml/2006/main">
              <a:ext uri="{FF2B5EF4-FFF2-40B4-BE49-F238E27FC236}">
                <a16:creationId xmlns:a16="http://schemas.microsoft.com/office/drawing/2014/main" id="{B480FC55-3CF7-459A-8464-2AB372CC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10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818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13" name="failed-text-2">
            <a:extLst xmlns:a="http://schemas.openxmlformats.org/drawingml/2006/main">
              <a:ext uri="{FF2B5EF4-FFF2-40B4-BE49-F238E27FC236}">
                <a16:creationId xmlns:a16="http://schemas.microsoft.com/office/drawing/2014/main" id="{89F8C038-EB96-4679-AF3E-FFDAEA4A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Provider or workflow failure</a:t>
            </a:r>
          </a:p>
        </p:txBody>
      </p:sp>
      <p:sp>
        <p:nvSpPr>
          <p:cNvPr id="14" name="excluded-rule">
            <a:extLst xmlns:a="http://schemas.openxmlformats.org/drawingml/2006/main">
              <a:ext uri="{FF2B5EF4-FFF2-40B4-BE49-F238E27FC236}">
                <a16:creationId xmlns:a16="http://schemas.microsoft.com/office/drawing/2014/main" id="{5F695E9D-A2C8-47CF-B36E-B86DDAD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Never dilute the median with a different route.</a:t>
            </a:r>
          </a:p>
        </p:txBody>
      </p:sp>
    </p:spTree>
    <p:extLst>
      <p:ext uri="{BB962C8B-B14F-4D97-AF65-F5344CB8AC3E}">
        <p14:creationId xmlns:p14="http://schemas.microsoft.com/office/powerpoint/2010/main" val="1324586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F28C970-B1D8-4FF5-A2A8-69981181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Example: fewer model calls, lower orchestration cost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7D3944D4-16F6-4CAB-BA02-4EDC91A5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33CEBFD2-9747-468F-873B-A56AEB8B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ONE BENCHMARKED WORKFLOW CHANGE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38150" y="1524000"/>
          <a:ext xmlns:a="http://schemas.openxmlformats.org/drawingml/2006/main" cx="6858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189b6f46ad4d94"/>
          </a:graphicData>
        </a:graphic>
      </p:graphicFrame>
      <p:sp>
        <p:nvSpPr>
          <p:cNvPr id="5" name="result-stat-1">
            <a:extLst xmlns:a="http://schemas.openxmlformats.org/drawingml/2006/main">
              <a:ext uri="{FF2B5EF4-FFF2-40B4-BE49-F238E27FC236}">
                <a16:creationId xmlns:a16="http://schemas.microsoft.com/office/drawing/2014/main" id="{E7F33F00-C280-4A13-9779-33024345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714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sult-stat-1-value">
            <a:extLst xmlns:a="http://schemas.openxmlformats.org/drawingml/2006/main">
              <a:ext uri="{FF2B5EF4-FFF2-40B4-BE49-F238E27FC236}">
                <a16:creationId xmlns:a16="http://schemas.microsoft.com/office/drawing/2014/main" id="{8F2A8221-61DB-48C7-BCF9-917AD447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−28.6%</a:t>
            </a:r>
          </a:p>
        </p:txBody>
      </p:sp>
      <p:sp>
        <p:nvSpPr>
          <p:cNvPr id="7" name="result-stat-1-label">
            <a:extLst xmlns:a="http://schemas.openxmlformats.org/drawingml/2006/main">
              <a:ext uri="{FF2B5EF4-FFF2-40B4-BE49-F238E27FC236}">
                <a16:creationId xmlns:a16="http://schemas.microsoft.com/office/drawing/2014/main" id="{784ECA69-B84B-40BF-A059-5C579B83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model invocations</a:t>
            </a:r>
          </a:p>
        </p:txBody>
      </p:sp>
      <p:sp>
        <p:nvSpPr>
          <p:cNvPr id="8" name="result-stat-2">
            <a:extLst xmlns:a="http://schemas.openxmlformats.org/drawingml/2006/main">
              <a:ext uri="{FF2B5EF4-FFF2-40B4-BE49-F238E27FC236}">
                <a16:creationId xmlns:a16="http://schemas.microsoft.com/office/drawing/2014/main" id="{C8ED0223-5E26-4017-BFA5-A4FB6F5D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3714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esult-stat-2-value">
            <a:extLst xmlns:a="http://schemas.openxmlformats.org/drawingml/2006/main">
              <a:ext uri="{FF2B5EF4-FFF2-40B4-BE49-F238E27FC236}">
                <a16:creationId xmlns:a16="http://schemas.microsoft.com/office/drawing/2014/main" id="{682C720D-01BE-4A10-A2EE-44EA5409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−22.3%</a:t>
            </a:r>
          </a:p>
        </p:txBody>
      </p:sp>
      <p:sp>
        <p:nvSpPr>
          <p:cNvPr id="10" name="result-stat-2-label">
            <a:extLst xmlns:a="http://schemas.openxmlformats.org/drawingml/2006/main">
              <a:ext uri="{FF2B5EF4-FFF2-40B4-BE49-F238E27FC236}">
                <a16:creationId xmlns:a16="http://schemas.microsoft.com/office/drawing/2014/main" id="{95E36F65-07F9-4770-8AE5-F271DC97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input tokens</a:t>
            </a:r>
          </a:p>
        </p:txBody>
      </p:sp>
      <p:sp>
        <p:nvSpPr>
          <p:cNvPr id="11" name="result-stat-3">
            <a:extLst xmlns:a="http://schemas.openxmlformats.org/drawingml/2006/main">
              <a:ext uri="{FF2B5EF4-FFF2-40B4-BE49-F238E27FC236}">
                <a16:creationId xmlns:a16="http://schemas.microsoft.com/office/drawing/2014/main" id="{A43FDC3E-3A0A-4488-8CDD-056C4967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3714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result-stat-3-value">
            <a:extLst xmlns:a="http://schemas.openxmlformats.org/drawingml/2006/main">
              <a:ext uri="{FF2B5EF4-FFF2-40B4-BE49-F238E27FC236}">
                <a16:creationId xmlns:a16="http://schemas.microsoft.com/office/drawing/2014/main" id="{61F37EE7-D23E-49D3-A1E9-5686B6CF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3/3 → 3/3</a:t>
            </a:r>
          </a:p>
        </p:txBody>
      </p:sp>
      <p:sp>
        <p:nvSpPr>
          <p:cNvPr id="13" name="result-stat-3-label">
            <a:extLst xmlns:a="http://schemas.openxmlformats.org/drawingml/2006/main">
              <a:ext uri="{FF2B5EF4-FFF2-40B4-BE49-F238E27FC236}">
                <a16:creationId xmlns:a16="http://schemas.microsoft.com/office/drawing/2014/main" id="{727F0D2F-2843-4C10-BDFF-4DD5A515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95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oracle + boundary passes</a:t>
            </a:r>
          </a:p>
        </p:txBody>
      </p:sp>
    </p:spTree>
    <p:extLst>
      <p:ext uri="{BB962C8B-B14F-4D97-AF65-F5344CB8AC3E}">
        <p14:creationId xmlns:p14="http://schemas.microsoft.com/office/powerpoint/2010/main" val="1847693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label">
            <a:extLst xmlns:a="http://schemas.openxmlformats.org/drawingml/2006/main">
              <a:ext uri="{FF2B5EF4-FFF2-40B4-BE49-F238E27FC236}">
                <a16:creationId xmlns:a16="http://schemas.microsoft.com/office/drawing/2014/main" id="{514F448B-DF11-428E-B591-FB8C7C7B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REUSABLE BENCHMARK CONTRACT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0F6228B-A7F8-4854-A66E-EDF5BFC2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8382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the route.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Qualify the output.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the medians.</a:t>
            </a:r>
          </a:p>
        </p:txBody>
      </p:sp>
      <p:sp>
        <p:nvSpPr>
          <p:cNvPr id="3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7FF1D8AB-ABBB-430D-9F1E-A787E8CF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06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Use the harness to validate orchestration changes—not to deliver the feature.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0CEC81D6-7232-4992-ABCA-A359EB17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190750" cy="27813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close-accent-text">
            <a:extLst xmlns:a="http://schemas.openxmlformats.org/drawingml/2006/main">
              <a:ext uri="{FF2B5EF4-FFF2-40B4-BE49-F238E27FC236}">
                <a16:creationId xmlns:a16="http://schemas.microsoft.com/office/drawing/2014/main" id="{E7969B76-CC09-43F3-B56C-47B52A0C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809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6" name="close-number">
            <a:extLst xmlns:a="http://schemas.openxmlformats.org/drawingml/2006/main">
              <a:ext uri="{FF2B5EF4-FFF2-40B4-BE49-F238E27FC236}">
                <a16:creationId xmlns:a16="http://schemas.microsoft.com/office/drawing/2014/main" id="{27FA3DC2-CF23-4B0E-B11B-3250DFF5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0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4553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2026-08-03T15:19:06.4930000Z</dcterms:created>
  <dcterms:modified xsi:type="dcterms:W3CDTF">2026-08-03T15:19:06.4930000Z</dcterms:modified>
</coreProperties>
</file>